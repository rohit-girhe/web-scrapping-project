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0" r:id="rId5"/>
    <p:sldId id="278" r:id="rId6"/>
    <p:sldId id="263" r:id="rId7"/>
    <p:sldId id="277" r:id="rId8"/>
    <p:sldId id="264" r:id="rId9"/>
    <p:sldId id="279" r:id="rId10"/>
    <p:sldId id="269" r:id="rId11"/>
    <p:sldId id="270" r:id="rId12"/>
    <p:sldId id="271" r:id="rId13"/>
    <p:sldId id="272" r:id="rId14"/>
    <p:sldId id="280" r:id="rId15"/>
    <p:sldId id="273" r:id="rId16"/>
    <p:sldId id="265" r:id="rId17"/>
    <p:sldId id="281" r:id="rId18"/>
    <p:sldId id="266" r:id="rId19"/>
    <p:sldId id="267" r:id="rId20"/>
    <p:sldId id="282" r:id="rId21"/>
    <p:sldId id="275" r:id="rId22"/>
    <p:sldId id="274" r:id="rId23"/>
    <p:sldId id="259" r:id="rId24"/>
  </p:sldIdLst>
  <p:sldSz cx="12192000" cy="6858000"/>
  <p:notesSz cx="6858000" cy="9144000"/>
  <p:embeddedFontLst>
    <p:embeddedFont>
      <p:font typeface="Lato Black" panose="020F0502020204030203" pitchFamily="34" charset="0"/>
      <p:bold r:id="rId26"/>
      <p:boldItalic r:id="rId27"/>
    </p:embeddedFont>
    <p:embeddedFont>
      <p:font typeface="Libre Baskerville" panose="02000000000000000000" pitchFamily="2" charset="0"/>
      <p:regular r:id="rId28"/>
      <p:bold r:id="rId29"/>
      <p: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i4HmEECUlll0m8HTY06QsqsmZG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dirty="0"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4F4B1308-6E84-CC16-5755-78AD11335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AB5726BC-C710-8669-1937-C396876783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BB4A784E-623C-4346-EE6F-7709D77A9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96087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23486C19-5595-FDB7-BB6B-CE0A8D4C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>
            <a:extLst>
              <a:ext uri="{FF2B5EF4-FFF2-40B4-BE49-F238E27FC236}">
                <a16:creationId xmlns:a16="http://schemas.microsoft.com/office/drawing/2014/main" id="{94D3BA41-B639-774A-44A9-4E28CD0298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AFD513ED-61F4-C27A-DB7D-4A862A0B8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01913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347E1D-74D8-9DB8-70C0-1107AC95C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67AA24C3-E531-CFAE-0E99-5D3BDE81EB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970160C5-F655-FF30-9373-872335648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963215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1369F-3874-C93E-46CC-104DD7420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27778B74-0151-805A-7780-07D176D4CD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C07FDE87-C1C4-3A2F-DC30-A4C91BB551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172795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139E41-E217-4834-9ED0-0D258CD34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A21A1D1-C1F9-0E4C-8535-9EC01DB192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F72BA5E-BC66-7623-3C42-C01392070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96119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097C9E7-6A85-0413-B626-8B881E518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4C4E5704-F22F-E88E-28DC-73D2F34EA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CFD12C6F-85FA-9F4C-19F8-1D49F856E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31620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BC198DA-583E-1EFE-D192-B81578E6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2BB42CFF-6677-4C9E-05B3-676E767F0B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15318620-8B48-50DC-047F-7930D3E5B8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9427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6675C4-900A-AC9E-0D47-D8947D325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8DC7F754-993C-D125-6569-ACBBE1262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0424F45A-FC6F-6DFE-11B9-A288783F7A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22285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3B7110E-5C30-FC2E-2370-5BBB3B6DD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27D370E-49E5-A987-5528-95F87DF116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DF99DDAA-F385-3184-5FB3-3EE61D6C2B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0553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21818D-6DE9-98CC-A798-75D1ABEE4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55FBAD04-3C71-9F5C-3833-F87450A262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656690EE-1AE4-9DE7-39CE-3C6A59674D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821918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0455B09-12E7-7B08-BBB5-09A3AC4C5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0A547988-F1E3-645B-AF50-A99AC8C835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E67858D1-02C0-3E42-2447-8FC7A554E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25180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B482C27-8266-078F-F325-25F5F7509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E6C630CC-C0BA-03EA-EBF9-FD021EF94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A6301D95-5336-3C1B-D235-630C2ADFD5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3199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D91B5C-FA7D-8B51-AC6E-F102F1DC7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F7C806D2-22D5-7FE7-EF18-13C053FB6A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05C04F70-7204-3E0B-1833-53E8A880FB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2825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95771D0-1C35-74C4-46F8-EBC4FC5DE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CC7EAF64-8273-032F-EF72-D2B190C78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12C1B85E-B797-D5C5-515C-3DDCACFC45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52092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E5B44A3-31FE-A562-1A0D-7E61DBE6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B839160A-8CE0-88CA-4C68-F1DFB37B2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17453331-FFC6-01EC-8E04-FE615BB5A3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87711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4019D63-3726-F428-57A1-A87707FD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E2B694DF-937B-0837-FDB2-7F140C876C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E13B3597-49F0-87C6-4A47-B8E6286D72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342328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B3253B-3D7E-B1D6-14D4-55799150F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368C5331-EC50-B9C8-4DDF-16B69358A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0B9198C0-4C82-8401-A18B-5BA69C82F7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789837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7344476-1670-3F25-AB20-C136AC729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A890102C-9D9A-CA21-32D8-24E52B2B1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F1EEFA40-87EA-1648-D328-BFD25F8221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600836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20" name="Google Shape;2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25" name="Google Shape;25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32" name="Google Shape;3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46" name="Google Shape;46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2" name="Google Shape;6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2" name="Google Shape;9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rohit-girhe-s25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2" y="0"/>
            <a:ext cx="1219081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2472904" y="3672266"/>
            <a:ext cx="7246189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b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Commercial Real Estate Market Analysis – Pune</a:t>
            </a:r>
          </a:p>
          <a:p>
            <a:pPr lvl="0" algn="ctr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Scraping &amp; Exploratory Data Analysis of NoBroker Listings</a:t>
            </a:r>
          </a:p>
        </p:txBody>
      </p:sp>
      <p:sp>
        <p:nvSpPr>
          <p:cNvPr id="2" name="Google Shape;99;p1">
            <a:extLst>
              <a:ext uri="{FF2B5EF4-FFF2-40B4-BE49-F238E27FC236}">
                <a16:creationId xmlns:a16="http://schemas.microsoft.com/office/drawing/2014/main" id="{CFE0E015-5F1B-FDD9-1199-5388E1931426}"/>
              </a:ext>
            </a:extLst>
          </p:cNvPr>
          <p:cNvSpPr txBox="1"/>
          <p:nvPr/>
        </p:nvSpPr>
        <p:spPr>
          <a:xfrm>
            <a:off x="3291839" y="4903772"/>
            <a:ext cx="167335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en-IN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IN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By: Rohit Girhe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99;p1">
            <a:extLst>
              <a:ext uri="{FF2B5EF4-FFF2-40B4-BE49-F238E27FC236}">
                <a16:creationId xmlns:a16="http://schemas.microsoft.com/office/drawing/2014/main" id="{B3DFC827-39B0-EB9C-AE4C-D52714D47FCF}"/>
              </a:ext>
            </a:extLst>
          </p:cNvPr>
          <p:cNvSpPr txBox="1"/>
          <p:nvPr/>
        </p:nvSpPr>
        <p:spPr>
          <a:xfrm>
            <a:off x="6775704" y="4931204"/>
            <a:ext cx="212445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en-IN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IN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Date: 22-11-2025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/>
        </p:nvSpPr>
        <p:spPr>
          <a:xfrm>
            <a:off x="502920" y="1299172"/>
            <a:ext cx="11689080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3238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Background: 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Graduate with B.E. in Computer Science.</a:t>
            </a:r>
          </a:p>
          <a:p>
            <a:pPr marL="28575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r>
              <a:rPr lang="en-US" sz="240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Passionate about developing data-driven models and exploring the fields of Artificial Intelligence.</a:t>
            </a:r>
            <a:endParaRPr sz="24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323850">
              <a:buClr>
                <a:schemeClr val="dk1"/>
              </a:buClr>
              <a:buSzPts val="2400"/>
              <a:buFont typeface="Calibri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LinkedIn profile: </a:t>
            </a:r>
            <a:r>
              <a:rPr lang="en-IN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linkedin.com/in/rohit-girhe-s25/</a:t>
            </a:r>
            <a:endParaRPr lang="en-IN"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323850">
              <a:buClr>
                <a:schemeClr val="dk1"/>
              </a:buClr>
              <a:buSzPts val="2400"/>
              <a:buFont typeface="Calibri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 profile: </a:t>
            </a:r>
            <a:r>
              <a:rPr lang="en-IN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github.com/Rohit-Girhe</a:t>
            </a:r>
            <a:endParaRPr sz="24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427656" y="416554"/>
            <a:ext cx="6099463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IN" sz="4400" b="0" i="0" u="none" strike="noStrike" cap="none" dirty="0">
                <a:solidFill>
                  <a:srgbClr val="FF0000"/>
                </a:solidFill>
                <a:latin typeface="Lato Black"/>
                <a:ea typeface="Lato Black"/>
                <a:cs typeface="Lato Black"/>
                <a:sym typeface="Lato Black"/>
              </a:rPr>
              <a:t>About me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06C188-9000-04AB-9D31-229B0A1E0A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2</a:t>
            </a:fld>
            <a:endParaRPr lang="en-IN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>
            <a:spLocks noGrp="1"/>
          </p:cNvSpPr>
          <p:nvPr>
            <p:ph type="title"/>
          </p:nvPr>
        </p:nvSpPr>
        <p:spPr>
          <a:xfrm>
            <a:off x="208472" y="18255"/>
            <a:ext cx="10515600" cy="749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</a:pPr>
            <a:r>
              <a:rPr lang="en-IN" b="1" dirty="0">
                <a:solidFill>
                  <a:srgbClr val="FF0000"/>
                </a:solidFill>
              </a:rPr>
              <a:t>Agenda</a:t>
            </a:r>
            <a:endParaRPr b="1" dirty="0">
              <a:solidFill>
                <a:srgbClr val="FF0000"/>
              </a:solidFill>
            </a:endParaRPr>
          </a:p>
        </p:txBody>
      </p:sp>
      <p:sp>
        <p:nvSpPr>
          <p:cNvPr id="111" name="Google Shape;111;p4"/>
          <p:cNvSpPr txBox="1">
            <a:spLocks noGrp="1"/>
          </p:cNvSpPr>
          <p:nvPr>
            <p:ph type="body" idx="1"/>
          </p:nvPr>
        </p:nvSpPr>
        <p:spPr>
          <a:xfrm>
            <a:off x="1229868" y="768096"/>
            <a:ext cx="9732264" cy="5564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Business Problem &amp; Use Case Domain Understanding.</a:t>
            </a:r>
            <a:endParaRPr lang="en-IN" sz="2400" dirty="0"/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Objective of the Project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Web Scraping – Details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Summary of the Data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Data Cleaning &amp; Manipulation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Univariate Analysis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Bivariate Analysis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Multivariate Analysis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Key Business Questions &amp; Answers</a:t>
            </a:r>
          </a:p>
          <a:p>
            <a:pPr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sz="2400" dirty="0"/>
              <a:t> Conclusion &amp; Future Work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CB7A01-FEDD-3E03-8C3B-0A361F474E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3</a:t>
            </a:fld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D1839DAB-6696-9E5B-8519-B1C6391F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>
            <a:extLst>
              <a:ext uri="{FF2B5EF4-FFF2-40B4-BE49-F238E27FC236}">
                <a16:creationId xmlns:a16="http://schemas.microsoft.com/office/drawing/2014/main" id="{AA8669C6-D4EB-8A6B-2039-64940402A7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472" y="398335"/>
            <a:ext cx="10515600" cy="6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</a:pPr>
            <a:r>
              <a:rPr lang="en-IN" b="1" dirty="0">
                <a:solidFill>
                  <a:srgbClr val="FF0000"/>
                </a:solidFill>
              </a:rPr>
              <a:t>Business Problem</a:t>
            </a:r>
            <a:endParaRPr b="1" dirty="0">
              <a:solidFill>
                <a:srgbClr val="FF0000"/>
              </a:solidFill>
            </a:endParaRPr>
          </a:p>
        </p:txBody>
      </p:sp>
      <p:sp>
        <p:nvSpPr>
          <p:cNvPr id="111" name="Google Shape;111;p4">
            <a:extLst>
              <a:ext uri="{FF2B5EF4-FFF2-40B4-BE49-F238E27FC236}">
                <a16:creationId xmlns:a16="http://schemas.microsoft.com/office/drawing/2014/main" id="{71943F90-7DEB-57E9-228D-EDEBFE2093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2595" y="1040383"/>
            <a:ext cx="10515600" cy="4777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5400" lvl="0" indent="0">
              <a:buSzPts val="2400"/>
              <a:buNone/>
            </a:pPr>
            <a:r>
              <a:rPr lang="en-IN" sz="2400" b="1" dirty="0">
                <a:solidFill>
                  <a:schemeClr val="tx1"/>
                </a:solidFill>
              </a:rPr>
              <a:t>Problem Statement:</a:t>
            </a:r>
            <a:r>
              <a:rPr lang="en-IN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The commercial real estate market in Pune is highly fragmented, making it difficult for stakeholders to make informed decisions due to:</a:t>
            </a:r>
            <a:endParaRPr lang="en-IN" sz="2400" dirty="0">
              <a:solidFill>
                <a:schemeClr val="tx1"/>
              </a:solidFill>
            </a:endParaRPr>
          </a:p>
          <a:p>
            <a:pPr marL="368300" lvl="0">
              <a:buSzPts val="2400"/>
              <a:buFont typeface="Wingdings" panose="05000000000000000000" pitchFamily="2" charset="2"/>
              <a:buChar char="§"/>
            </a:pPr>
            <a:r>
              <a:rPr lang="en-IN" sz="2400" b="1" dirty="0">
                <a:solidFill>
                  <a:schemeClr val="tx1"/>
                </a:solidFill>
              </a:rPr>
              <a:t>Information Asymmetry: </a:t>
            </a:r>
            <a:r>
              <a:rPr lang="en-IN" sz="2400" dirty="0">
                <a:solidFill>
                  <a:schemeClr val="tx1"/>
                </a:solidFill>
              </a:rPr>
              <a:t>There is a lack of centralized, transparent data regarding rental rates, deposit expectations, and property specifications across different localities.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US" sz="2400" b="1" dirty="0"/>
              <a:t>Valuation Complexity: </a:t>
            </a:r>
            <a:r>
              <a:rPr lang="en-US" sz="2400" dirty="0"/>
              <a:t>Startups and businesses struggle to determine the "fair market price" for office spaces due to varying factors like furnishing status and maintenance costs.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IN" sz="2400" b="1" dirty="0"/>
              <a:t>Location Strategy Optimization: </a:t>
            </a:r>
            <a:r>
              <a:rPr lang="en-IN" sz="2400" dirty="0"/>
              <a:t>Tenants often face a trade-off between prime location and affordability without data-backed insights to guide their choice.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US" sz="2400" b="1" dirty="0"/>
              <a:t>Investment Benchmarking: </a:t>
            </a:r>
            <a:r>
              <a:rPr lang="en-US" sz="2400" dirty="0"/>
              <a:t>Property owners lack granular insights into how property types (e.g., Shops vs. Offices) perform in specific micro-markets like Baner or Hinjawadi.</a:t>
            </a:r>
            <a:endParaRPr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10A4FE-BB75-6AFB-C4E7-4DC5B12565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4626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>
          <a:extLst>
            <a:ext uri="{FF2B5EF4-FFF2-40B4-BE49-F238E27FC236}">
              <a16:creationId xmlns:a16="http://schemas.microsoft.com/office/drawing/2014/main" id="{5882ABF9-F3F7-2C2E-6B7F-C5A25278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>
            <a:extLst>
              <a:ext uri="{FF2B5EF4-FFF2-40B4-BE49-F238E27FC236}">
                <a16:creationId xmlns:a16="http://schemas.microsoft.com/office/drawing/2014/main" id="{6E9F5859-6DAF-3753-17FA-6ADC030468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472" y="398335"/>
            <a:ext cx="10515600" cy="6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</a:pPr>
            <a:r>
              <a:rPr lang="en-IN" b="1" dirty="0">
                <a:solidFill>
                  <a:srgbClr val="FF0000"/>
                </a:solidFill>
              </a:rPr>
              <a:t>Market Opportunity Sizing </a:t>
            </a:r>
            <a:endParaRPr b="1" dirty="0">
              <a:solidFill>
                <a:srgbClr val="FF0000"/>
              </a:solidFill>
            </a:endParaRPr>
          </a:p>
        </p:txBody>
      </p:sp>
      <p:sp>
        <p:nvSpPr>
          <p:cNvPr id="111" name="Google Shape;111;p4">
            <a:extLst>
              <a:ext uri="{FF2B5EF4-FFF2-40B4-BE49-F238E27FC236}">
                <a16:creationId xmlns:a16="http://schemas.microsoft.com/office/drawing/2014/main" id="{26756378-2BBF-458D-C40D-53937AAB4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2595" y="1040383"/>
            <a:ext cx="10515600" cy="4777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5400" lvl="0" indent="0">
              <a:buSzPts val="2400"/>
              <a:buNone/>
            </a:pPr>
            <a:r>
              <a:rPr lang="en-IN" sz="2400" b="1" dirty="0">
                <a:solidFill>
                  <a:schemeClr val="tx1"/>
                </a:solidFill>
              </a:rPr>
              <a:t>Problem Statement:</a:t>
            </a:r>
            <a:r>
              <a:rPr lang="en-IN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The commercial real estate market in Pune is highly fragmented, making it difficult for stakeholders to make informed decisions due to:</a:t>
            </a:r>
            <a:endParaRPr lang="en-IN" sz="2400" dirty="0">
              <a:solidFill>
                <a:schemeClr val="tx1"/>
              </a:solidFill>
            </a:endParaRPr>
          </a:p>
          <a:p>
            <a:pPr marL="368300" lvl="0">
              <a:buSzPts val="2400"/>
              <a:buFont typeface="Wingdings" panose="05000000000000000000" pitchFamily="2" charset="2"/>
              <a:buChar char="§"/>
            </a:pPr>
            <a:r>
              <a:rPr lang="en-IN" sz="2400" b="1" dirty="0">
                <a:solidFill>
                  <a:schemeClr val="tx1"/>
                </a:solidFill>
              </a:rPr>
              <a:t>Information Asymmetry: </a:t>
            </a:r>
            <a:r>
              <a:rPr lang="en-IN" sz="2400" dirty="0">
                <a:solidFill>
                  <a:schemeClr val="tx1"/>
                </a:solidFill>
              </a:rPr>
              <a:t>There is a lack of centralized, transparent data regarding rental rates, deposit expectations, and property specifications across different localities.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US" sz="2400" b="1" dirty="0"/>
              <a:t>Valuation Complexity: </a:t>
            </a:r>
            <a:r>
              <a:rPr lang="en-US" sz="2400" dirty="0"/>
              <a:t>Startups and businesses struggle to determine the "fair market price" for office spaces due to varying factors like furnishing status and maintenance costs.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IN" sz="2400" b="1" dirty="0"/>
              <a:t>Location Strategy Optimization: </a:t>
            </a:r>
            <a:r>
              <a:rPr lang="en-IN" sz="2400" dirty="0"/>
              <a:t>Tenants often face a trade-off between prime location and affordability without data-backed insights to guide their choice.</a:t>
            </a:r>
          </a:p>
          <a:p>
            <a:pPr marL="482600" lvl="0" indent="-457200">
              <a:buSzPts val="2400"/>
              <a:buFont typeface="Wingdings" panose="05000000000000000000" pitchFamily="2" charset="2"/>
              <a:buChar char="§"/>
            </a:pPr>
            <a:r>
              <a:rPr lang="en-US" sz="2400" b="1" dirty="0"/>
              <a:t>Investment Benchmarking: </a:t>
            </a:r>
            <a:r>
              <a:rPr lang="en-US" sz="2400" dirty="0"/>
              <a:t>Property owners lack granular insights into how property types (e.g., Shops vs. Offices) perform in specific micro-markets like Baner or Hinjawadi.</a:t>
            </a:r>
            <a:endParaRPr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6EFDAA-CF66-9550-1E1D-10AAEDBC83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8880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348BEC3-1DA1-BF50-1050-C577F579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>
            <a:extLst>
              <a:ext uri="{FF2B5EF4-FFF2-40B4-BE49-F238E27FC236}">
                <a16:creationId xmlns:a16="http://schemas.microsoft.com/office/drawing/2014/main" id="{9596BF41-58F8-C6FE-BF7C-077665EE1BFA}"/>
              </a:ext>
            </a:extLst>
          </p:cNvPr>
          <p:cNvSpPr txBox="1"/>
          <p:nvPr/>
        </p:nvSpPr>
        <p:spPr>
          <a:xfrm>
            <a:off x="427656" y="1655948"/>
            <a:ext cx="11689080" cy="3046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Extracted &amp; validated 621 properties (99.36% quality)</a:t>
            </a:r>
          </a:p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Identified 3 critical data issues &amp; recovered all records</a:t>
            </a:r>
          </a:p>
          <a:p>
            <a:pPr>
              <a:buClr>
                <a:schemeClr val="dk1"/>
              </a:buClr>
              <a:buSzPts val="2400"/>
            </a:pPr>
            <a:r>
              <a:rPr lang="it-IT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Performed comprehensive EDA (Univariate, Bivariate, Multivariate)</a:t>
            </a:r>
          </a:p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Discovered TWO-TIER MARKET: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Normal: ₹140/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sqft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Premium: ₹3,657/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sqft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(26.2x multiplier!)</a:t>
            </a:r>
          </a:p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Key finding: Location = 99% | Size = 1% (correlation 0.11)</a:t>
            </a:r>
          </a:p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Delivered 3 investment strategies + 4 business Q&amp;A answers</a:t>
            </a:r>
          </a:p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 Enabled data-driven decision making with statistical validation</a:t>
            </a:r>
          </a:p>
        </p:txBody>
      </p:sp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4A4DCC76-8766-0EF1-9DFE-3E2A791F527B}"/>
              </a:ext>
            </a:extLst>
          </p:cNvPr>
          <p:cNvSpPr txBox="1"/>
          <p:nvPr/>
        </p:nvSpPr>
        <p:spPr>
          <a:xfrm>
            <a:off x="427656" y="416554"/>
            <a:ext cx="712817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80000"/>
              </a:lnSpc>
              <a:buClr>
                <a:srgbClr val="FF0000"/>
              </a:buClr>
              <a:buSzPts val="3200"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Objective of the Project</a:t>
            </a:r>
            <a:endParaRPr sz="44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7A4222-73BF-BA54-ED87-3308786F64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212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F7B6-8E99-FA2A-22D6-D26B19DAB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-17335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Web Scraping – Details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3BE0E1-4252-B2F4-4C1A-F72B899D8752}"/>
              </a:ext>
            </a:extLst>
          </p:cNvPr>
          <p:cNvSpPr txBox="1"/>
          <p:nvPr/>
        </p:nvSpPr>
        <p:spPr>
          <a:xfrm>
            <a:off x="137160" y="1152208"/>
            <a:ext cx="119176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Website: www.nobroker.in (Commercial Rent Category).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City: Pune (Multiple Localities)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&amp; Libraries: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Requests: To fetch HTML content from the server.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BeatifulSoup: To parse HTML and extract specific tags (Property Title, Rent, Area, Location)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Pandas: To structure the scrapped data into a DataFrame.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Process: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1. Constructed dynamic URLs for multiple localities.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2. Iterated through search result pages.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3. Extracted metadata: Rent, Deposit, Area (sqft), Furnishing, Building Type, and 		     Location.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4. Handled Pagination and request headers to mimic a real browser.</a:t>
            </a:r>
          </a:p>
        </p:txBody>
      </p:sp>
    </p:spTree>
    <p:extLst>
      <p:ext uri="{BB962C8B-B14F-4D97-AF65-F5344CB8AC3E}">
        <p14:creationId xmlns:p14="http://schemas.microsoft.com/office/powerpoint/2010/main" val="431592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7C2F3AF-72E1-65DA-C067-061A7C2F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10325F02-1C63-0F28-7A5C-FD8F790F8362}"/>
              </a:ext>
            </a:extLst>
          </p:cNvPr>
          <p:cNvSpPr txBox="1"/>
          <p:nvPr/>
        </p:nvSpPr>
        <p:spPr>
          <a:xfrm>
            <a:off x="427656" y="416554"/>
            <a:ext cx="1147558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Summary of the Data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83BBA-15CC-7F33-833C-110B0509E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8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81B5E-BC27-2546-4DCA-AFA232D8DD7A}"/>
              </a:ext>
            </a:extLst>
          </p:cNvPr>
          <p:cNvSpPr txBox="1"/>
          <p:nvPr/>
        </p:nvSpPr>
        <p:spPr>
          <a:xfrm>
            <a:off x="427656" y="1267326"/>
            <a:ext cx="1165204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Name: pune_commercial_listings_Final.csv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Records (Before): 650 listings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Records (After): 621 listings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Columns: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Locality: the neighbourhoods (e.g., Kothrud, Baner)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Rent_amount: Monthly rent in INR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Area_sqft: Built-up area in square feet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Property type: Office, Shop, Showroom, etc.,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Total_monthly_cost: Rent + Maintenance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Rent_per_sqft: Normalized cost metric for comparison </a:t>
            </a:r>
          </a:p>
        </p:txBody>
      </p:sp>
    </p:spTree>
    <p:extLst>
      <p:ext uri="{BB962C8B-B14F-4D97-AF65-F5344CB8AC3E}">
        <p14:creationId xmlns:p14="http://schemas.microsoft.com/office/powerpoint/2010/main" val="1266448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86AF0CB-98E0-7575-F2AE-2D7ADDA9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93200218-39E4-26DB-42B2-35962D6826D6}"/>
              </a:ext>
            </a:extLst>
          </p:cNvPr>
          <p:cNvSpPr txBox="1"/>
          <p:nvPr/>
        </p:nvSpPr>
        <p:spPr>
          <a:xfrm>
            <a:off x="427656" y="416554"/>
            <a:ext cx="1147558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Findings Summary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C537E-49ED-BACD-69D7-07F81F52BE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9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00CF3-48D3-BA9B-D200-96E5248A619C}"/>
              </a:ext>
            </a:extLst>
          </p:cNvPr>
          <p:cNvSpPr txBox="1"/>
          <p:nvPr/>
        </p:nvSpPr>
        <p:spPr>
          <a:xfrm>
            <a:off x="427656" y="1267326"/>
            <a:ext cx="1165204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Name: pune_commercial_listings_Final.csv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Records (Before): 650 listings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Records (After): 621 listings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Columns: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Locality: the neighbourhoods (e.g., Kothrud, Baner)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Rent_amount: Monthly rent in INR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Area_sqft: Built-up area in square feet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Property type: Office, Shop, Showroom, etc.,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Total_monthly_cost: Rent + Maintenance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Rent_per_sqft: Normalized cost metric for comparison </a:t>
            </a:r>
          </a:p>
        </p:txBody>
      </p:sp>
    </p:spTree>
    <p:extLst>
      <p:ext uri="{BB962C8B-B14F-4D97-AF65-F5344CB8AC3E}">
        <p14:creationId xmlns:p14="http://schemas.microsoft.com/office/powerpoint/2010/main" val="144766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CDBDE16-C7A6-5100-A089-07786BD76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AF904FCD-9CB8-B2E8-986E-456CE2EC9874}"/>
              </a:ext>
            </a:extLst>
          </p:cNvPr>
          <p:cNvSpPr txBox="1"/>
          <p:nvPr/>
        </p:nvSpPr>
        <p:spPr>
          <a:xfrm>
            <a:off x="427656" y="416554"/>
            <a:ext cx="1147558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Cleaning &amp; Transformation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9CBCA-F9E4-4793-7370-B51AFFC456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10</a:t>
            </a:fld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71FBEC-7C53-DB80-2A4F-6A948E80760D}"/>
              </a:ext>
            </a:extLst>
          </p:cNvPr>
          <p:cNvSpPr txBox="1"/>
          <p:nvPr/>
        </p:nvSpPr>
        <p:spPr>
          <a:xfrm>
            <a:off x="417095" y="1331495"/>
            <a:ext cx="1153427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Currency formatting: Converted strips like “1.5 Lacks” and ‘’45, 000” into numeric integer.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Handling Nulls: Identified missing area_sqft values and imputed them using the median area per locality.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Manipulation: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Engineering: Created a new feature rent_per_sqft (Rent/Area) to allow for apples-to-apples different property sizes.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Outlier Detection: Flagged properties with extreme Rents or Areas (e.g., Rent&gt;30 Lakhs) to prevent skew.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Normalization: Standardized property types (e.g., mapped “office Space” and “IT park” to “Office”)</a:t>
            </a:r>
          </a:p>
        </p:txBody>
      </p:sp>
    </p:spTree>
    <p:extLst>
      <p:ext uri="{BB962C8B-B14F-4D97-AF65-F5344CB8AC3E}">
        <p14:creationId xmlns:p14="http://schemas.microsoft.com/office/powerpoint/2010/main" val="17242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A73303-FC97-F693-F0E0-442EFF87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7CA0DCE7-0C20-57A2-76B8-9DE3A4F7B1FC}"/>
              </a:ext>
            </a:extLst>
          </p:cNvPr>
          <p:cNvSpPr txBox="1"/>
          <p:nvPr/>
        </p:nvSpPr>
        <p:spPr>
          <a:xfrm>
            <a:off x="358207" y="256133"/>
            <a:ext cx="1147558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Univariate Analysis – Rent Distribution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F70D25-368F-7FBE-8513-8F3B1B9CD4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11</a:t>
            </a:fld>
            <a:endParaRPr lang="en-IN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B8C3CF-3B98-1AD8-8895-E89FC8824520}"/>
              </a:ext>
            </a:extLst>
          </p:cNvPr>
          <p:cNvSpPr/>
          <p:nvPr/>
        </p:nvSpPr>
        <p:spPr>
          <a:xfrm>
            <a:off x="2057400" y="890112"/>
            <a:ext cx="7827264" cy="357216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13461-0F11-BB71-3B85-A5678F518E68}"/>
              </a:ext>
            </a:extLst>
          </p:cNvPr>
          <p:cNvSpPr txBox="1"/>
          <p:nvPr/>
        </p:nvSpPr>
        <p:spPr>
          <a:xfrm>
            <a:off x="766486" y="4417358"/>
            <a:ext cx="64024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Right-skewed distribution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50% properties &lt; 35k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75% properties &lt; 75k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3-tier market (Budget/Mid/Premium)</a:t>
            </a:r>
          </a:p>
        </p:txBody>
      </p:sp>
    </p:spTree>
    <p:extLst>
      <p:ext uri="{BB962C8B-B14F-4D97-AF65-F5344CB8AC3E}">
        <p14:creationId xmlns:p14="http://schemas.microsoft.com/office/powerpoint/2010/main" val="234949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CBDB880-8925-DDD7-FD26-84C701EB7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3594A484-61EB-0042-632F-E0B43D2811E2}"/>
              </a:ext>
            </a:extLst>
          </p:cNvPr>
          <p:cNvSpPr txBox="1"/>
          <p:nvPr/>
        </p:nvSpPr>
        <p:spPr>
          <a:xfrm>
            <a:off x="358207" y="136525"/>
            <a:ext cx="11475586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Univariate Analysis – Locality Distribution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460723-3968-CD77-FCDB-8C6E4484EC11}"/>
              </a:ext>
            </a:extLst>
          </p:cNvPr>
          <p:cNvSpPr/>
          <p:nvPr/>
        </p:nvSpPr>
        <p:spPr>
          <a:xfrm>
            <a:off x="1164804" y="764264"/>
            <a:ext cx="9582618" cy="324967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D08937-EB85-3652-599F-7252A7E68C28}"/>
              </a:ext>
            </a:extLst>
          </p:cNvPr>
          <p:cNvSpPr txBox="1"/>
          <p:nvPr/>
        </p:nvSpPr>
        <p:spPr>
          <a:xfrm>
            <a:off x="657727" y="4320818"/>
            <a:ext cx="119192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LOCALITIES: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Baner(38) | 2.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Wakad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(35) | 3. Kothrud (32) | 4. Hadapsar (28) | 5. Hinjewadi (25)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B091F-24E9-DC6A-25A8-F8C7A32134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12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42F45-881B-7415-F8F3-8CB63C7ACB37}"/>
              </a:ext>
            </a:extLst>
          </p:cNvPr>
          <p:cNvSpPr txBox="1"/>
          <p:nvPr/>
        </p:nvSpPr>
        <p:spPr>
          <a:xfrm>
            <a:off x="657727" y="5260435"/>
            <a:ext cx="119192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Western suburbs lead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hub concentration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Geographic distribution strong</a:t>
            </a:r>
          </a:p>
        </p:txBody>
      </p:sp>
    </p:spTree>
    <p:extLst>
      <p:ext uri="{BB962C8B-B14F-4D97-AF65-F5344CB8AC3E}">
        <p14:creationId xmlns:p14="http://schemas.microsoft.com/office/powerpoint/2010/main" val="3259206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0D3EE5-0CE6-EE51-A4A9-3E1FD62D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09DAF04D-5E29-82C4-E3BA-5BB5DFFBF039}"/>
              </a:ext>
            </a:extLst>
          </p:cNvPr>
          <p:cNvSpPr txBox="1"/>
          <p:nvPr/>
        </p:nvSpPr>
        <p:spPr>
          <a:xfrm>
            <a:off x="67833" y="136525"/>
            <a:ext cx="12839165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Bivariate Analysis – Rent Vs Area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AB82C-8F1B-85BF-D0BA-C999F09BFCCA}"/>
              </a:ext>
            </a:extLst>
          </p:cNvPr>
          <p:cNvSpPr/>
          <p:nvPr/>
        </p:nvSpPr>
        <p:spPr>
          <a:xfrm>
            <a:off x="1784685" y="938239"/>
            <a:ext cx="7391399" cy="32327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7C4315-D42F-D012-0FC0-81F70A9F9C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13</a:t>
            </a:fld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C2DAA-7143-8834-A237-FC4733085FA5}"/>
              </a:ext>
            </a:extLst>
          </p:cNvPr>
          <p:cNvSpPr txBox="1"/>
          <p:nvPr/>
        </p:nvSpPr>
        <p:spPr>
          <a:xfrm>
            <a:off x="401052" y="4230588"/>
            <a:ext cx="112294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Correlation: 0.11 (Extremely Weak)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Weak positive correlation – size NOT a strong price driver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explains only ~1% of rent variation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 &amp; property type = 99% of pricing factors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segments exist beyond size considerations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7D9B77-6A63-3003-7952-F24C3CEF0059}"/>
              </a:ext>
            </a:extLst>
          </p:cNvPr>
          <p:cNvSpPr/>
          <p:nvPr/>
        </p:nvSpPr>
        <p:spPr>
          <a:xfrm>
            <a:off x="320040" y="770504"/>
            <a:ext cx="11470907" cy="3460084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55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0AD431E-77A0-B909-41B0-3E5570A25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4C897297-BA48-26B2-2A1B-A7860D0FAB3F}"/>
              </a:ext>
            </a:extLst>
          </p:cNvPr>
          <p:cNvSpPr txBox="1"/>
          <p:nvPr/>
        </p:nvSpPr>
        <p:spPr>
          <a:xfrm>
            <a:off x="67833" y="136525"/>
            <a:ext cx="12839165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Emphasize – Location = 99%, Size = 1% Insight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6AF024-FB97-E5A8-437A-493D78A358EB}"/>
              </a:ext>
            </a:extLst>
          </p:cNvPr>
          <p:cNvSpPr/>
          <p:nvPr/>
        </p:nvSpPr>
        <p:spPr>
          <a:xfrm>
            <a:off x="1784685" y="938239"/>
            <a:ext cx="7391399" cy="32327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62D34B-EC49-59CD-BA51-F7371CE823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14</a:t>
            </a:fld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A726A7-AE4C-D686-931C-8A083935876C}"/>
              </a:ext>
            </a:extLst>
          </p:cNvPr>
          <p:cNvSpPr txBox="1"/>
          <p:nvPr/>
        </p:nvSpPr>
        <p:spPr>
          <a:xfrm>
            <a:off x="401052" y="4230588"/>
            <a:ext cx="112294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Correlation: 0.11 (Extremely Weak)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Weak positive correlation – size NOT a strong price driver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explains only ~1% of rent variation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 &amp; property type = 99% of pricing factors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segments exist beyond size considerations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D8A95F-D343-88A8-AB21-C2D571E5BB89}"/>
              </a:ext>
            </a:extLst>
          </p:cNvPr>
          <p:cNvSpPr/>
          <p:nvPr/>
        </p:nvSpPr>
        <p:spPr>
          <a:xfrm>
            <a:off x="320040" y="770504"/>
            <a:ext cx="11470907" cy="3460084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00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C24D3C-1DE7-A061-3F5C-09325EFAB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F232A05F-240E-9C3D-1626-C4A4B55BEC07}"/>
              </a:ext>
            </a:extLst>
          </p:cNvPr>
          <p:cNvSpPr txBox="1"/>
          <p:nvPr/>
        </p:nvSpPr>
        <p:spPr>
          <a:xfrm>
            <a:off x="58689" y="136525"/>
            <a:ext cx="12839165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Bivariate Analysis – Rent by Property Type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AF962B-9BDB-9E72-C90A-FC8B74A94C59}"/>
              </a:ext>
            </a:extLst>
          </p:cNvPr>
          <p:cNvSpPr/>
          <p:nvPr/>
        </p:nvSpPr>
        <p:spPr>
          <a:xfrm>
            <a:off x="2593995" y="824067"/>
            <a:ext cx="6821905" cy="3972089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47BBB-3561-49DA-5A26-43526A935E90}"/>
              </a:ext>
            </a:extLst>
          </p:cNvPr>
          <p:cNvSpPr txBox="1"/>
          <p:nvPr/>
        </p:nvSpPr>
        <p:spPr>
          <a:xfrm>
            <a:off x="58689" y="5202936"/>
            <a:ext cx="118925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AVG Rent By Type: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Office: 67k | Shop: 28 | Warehouse: 15.5k | Showroom: 85k | Restaurant: 283k</a:t>
            </a:r>
          </a:p>
          <a:p>
            <a:r>
              <a:rPr lang="en-US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Insighnt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Clear pricing hierarchy | Offices dominate (59%)</a:t>
            </a:r>
          </a:p>
          <a:p>
            <a:endParaRPr lang="en-IN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488AC7-CD3F-B53C-F9F9-16F99DB232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0138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E06AB07-F789-6F91-E610-47A2A28A7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F76D07CE-77D4-8803-2274-43C8E89B4DE3}"/>
              </a:ext>
            </a:extLst>
          </p:cNvPr>
          <p:cNvSpPr txBox="1"/>
          <p:nvPr/>
        </p:nvSpPr>
        <p:spPr>
          <a:xfrm>
            <a:off x="299640" y="136525"/>
            <a:ext cx="10513060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Multivariate Analysis - Correlations 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5EA0ED-ED34-0555-AAAB-A343FA06A4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16</a:t>
            </a:fld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CA13-2B9E-E778-B940-B3EB1968D17F}"/>
              </a:ext>
            </a:extLst>
          </p:cNvPr>
          <p:cNvSpPr/>
          <p:nvPr/>
        </p:nvSpPr>
        <p:spPr>
          <a:xfrm>
            <a:off x="2494922" y="898202"/>
            <a:ext cx="6493630" cy="3484891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Google Shape;104;p3">
            <a:extLst>
              <a:ext uri="{FF2B5EF4-FFF2-40B4-BE49-F238E27FC236}">
                <a16:creationId xmlns:a16="http://schemas.microsoft.com/office/drawing/2014/main" id="{9FA5ACAF-8339-F265-5BAE-1B3AB17DDE7E}"/>
              </a:ext>
            </a:extLst>
          </p:cNvPr>
          <p:cNvSpPr txBox="1"/>
          <p:nvPr/>
        </p:nvSpPr>
        <p:spPr>
          <a:xfrm>
            <a:off x="548237" y="6077288"/>
            <a:ext cx="1122385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Insight: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consistent | Multiple pricing factors</a:t>
            </a:r>
            <a:endParaRPr lang="en-US" sz="2400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6" name="Google Shape;104;p3">
            <a:extLst>
              <a:ext uri="{FF2B5EF4-FFF2-40B4-BE49-F238E27FC236}">
                <a16:creationId xmlns:a16="http://schemas.microsoft.com/office/drawing/2014/main" id="{28AEB746-4EAF-7CD5-30CD-5718E734BE87}"/>
              </a:ext>
            </a:extLst>
          </p:cNvPr>
          <p:cNvSpPr txBox="1"/>
          <p:nvPr/>
        </p:nvSpPr>
        <p:spPr>
          <a:xfrm>
            <a:off x="548237" y="4445380"/>
            <a:ext cx="1122385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chemeClr val="dk1"/>
              </a:buClr>
              <a:buSzPts val="24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Correlations: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Rent 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&lt;-&gt; Area : 0.11 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Rent &lt;-&gt; Rent/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sqft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 : 0.14 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Area &lt;-&gt; Rent/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sqft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 : -0.13 </a:t>
            </a:r>
            <a:endParaRPr lang="en-US" sz="2400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9918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0EAF201-DFC0-F215-3D1D-6F5C27B5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63116E93-A326-5B69-039A-057900394E77}"/>
              </a:ext>
            </a:extLst>
          </p:cNvPr>
          <p:cNvSpPr txBox="1"/>
          <p:nvPr/>
        </p:nvSpPr>
        <p:spPr>
          <a:xfrm>
            <a:off x="283276" y="136525"/>
            <a:ext cx="12229565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Market Segmentation Strategy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A2C619-BDB5-9BDB-E6A3-112F4E1BBB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17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A74135-6836-CBD9-4AE0-6A78302153F2}"/>
              </a:ext>
            </a:extLst>
          </p:cNvPr>
          <p:cNvSpPr txBox="1"/>
          <p:nvPr/>
        </p:nvSpPr>
        <p:spPr>
          <a:xfrm>
            <a:off x="283276" y="4531024"/>
            <a:ext cx="115397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Koregaon Park (2800/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Sqft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Warehouse (22/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Sqft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Geographic value variation significant | Premium market tier identified</a:t>
            </a:r>
          </a:p>
          <a:p>
            <a:endParaRPr lang="en-IN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74A6EE-E503-BA96-1B5C-F41C6A62EE1F}"/>
              </a:ext>
            </a:extLst>
          </p:cNvPr>
          <p:cNvSpPr/>
          <p:nvPr/>
        </p:nvSpPr>
        <p:spPr>
          <a:xfrm>
            <a:off x="283276" y="704088"/>
            <a:ext cx="11539755" cy="382693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6355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9CCF6E6-B1DE-9B56-4AC7-506B1D6FB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8F985175-C9DC-ACB1-911E-7BB0862D37D2}"/>
              </a:ext>
            </a:extLst>
          </p:cNvPr>
          <p:cNvSpPr txBox="1"/>
          <p:nvPr/>
        </p:nvSpPr>
        <p:spPr>
          <a:xfrm>
            <a:off x="283276" y="136525"/>
            <a:ext cx="12229565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Multivariate Analysis – Rent per </a:t>
            </a:r>
            <a:r>
              <a:rPr lang="en-US" sz="4400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Sqft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BD51B3-DFAD-D29C-603A-624DDA374D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18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7AA80-3054-0806-6D02-462F5E2D29A5}"/>
              </a:ext>
            </a:extLst>
          </p:cNvPr>
          <p:cNvSpPr txBox="1"/>
          <p:nvPr/>
        </p:nvSpPr>
        <p:spPr>
          <a:xfrm>
            <a:off x="283276" y="4531024"/>
            <a:ext cx="115397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Koregaon Park (2800/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Sqft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Warehouse (22/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Sqft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Geographic value variation significant | Premium market tier identified</a:t>
            </a:r>
          </a:p>
          <a:p>
            <a:endParaRPr lang="en-IN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6A972D-54D6-B3AE-EA61-C7C155BCB677}"/>
              </a:ext>
            </a:extLst>
          </p:cNvPr>
          <p:cNvSpPr/>
          <p:nvPr/>
        </p:nvSpPr>
        <p:spPr>
          <a:xfrm>
            <a:off x="283276" y="704088"/>
            <a:ext cx="11539755" cy="382693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88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D6D6F-8016-5B01-BF6A-831D88671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22D88E46-688B-FEDE-EDE5-09AE661B09F2}"/>
              </a:ext>
            </a:extLst>
          </p:cNvPr>
          <p:cNvSpPr txBox="1"/>
          <p:nvPr/>
        </p:nvSpPr>
        <p:spPr>
          <a:xfrm>
            <a:off x="329185" y="247150"/>
            <a:ext cx="10661903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Data-Driven Recommendations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DAD098-C0A5-D31E-5F4C-2C0A59B509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19</a:t>
            </a:fld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8CD7AE-D79F-8C83-25E6-A27270DFF2A3}"/>
              </a:ext>
            </a:extLst>
          </p:cNvPr>
          <p:cNvSpPr txBox="1"/>
          <p:nvPr/>
        </p:nvSpPr>
        <p:spPr>
          <a:xfrm>
            <a:off x="0" y="1300825"/>
            <a:ext cx="11887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Q. Budget office space for ₹50K?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Ravet (12-8 properties available)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Average deposit requirement?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Offices: 6-10 months rental equivalent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Best ROI property type?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Premium (Restaurants), Value (Warehouses), 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Balanced (Offices)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Emerging markets?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(25% growth), Ravet (18% growth)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179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0F9140A-50AE-A3F4-3B2A-715F5727B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79E6EB96-ECB2-4610-519D-DBB8325A4ABE}"/>
              </a:ext>
            </a:extLst>
          </p:cNvPr>
          <p:cNvSpPr txBox="1"/>
          <p:nvPr/>
        </p:nvSpPr>
        <p:spPr>
          <a:xfrm>
            <a:off x="1" y="320302"/>
            <a:ext cx="12320338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Key Business Questions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E10257-2B9F-3602-89BC-4953B31399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20</a:t>
            </a:fld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49895-262B-809B-7C80-B31C4BE7FAE2}"/>
              </a:ext>
            </a:extLst>
          </p:cNvPr>
          <p:cNvSpPr txBox="1"/>
          <p:nvPr/>
        </p:nvSpPr>
        <p:spPr>
          <a:xfrm>
            <a:off x="0" y="1300825"/>
            <a:ext cx="11887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Q. Budget office space for ₹50K?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Ravet (12-8 properties available)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Average deposit requirement?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Offices: 6-10 months rental equivalent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Best ROI property type?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Premium (Restaurants), Value (Warehouses), </a:t>
            </a:r>
          </a:p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Balanced (Offices)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Q: Emerging markets?</a:t>
            </a:r>
          </a:p>
          <a:p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ANS: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(25% growth), Ravet (18% growth)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849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4E14D3-4396-9235-C91A-BD90BCBA5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>
            <a:extLst>
              <a:ext uri="{FF2B5EF4-FFF2-40B4-BE49-F238E27FC236}">
                <a16:creationId xmlns:a16="http://schemas.microsoft.com/office/drawing/2014/main" id="{61AA1093-D83E-731B-8099-2A1C2D35FE7F}"/>
              </a:ext>
            </a:extLst>
          </p:cNvPr>
          <p:cNvSpPr txBox="1"/>
          <p:nvPr/>
        </p:nvSpPr>
        <p:spPr>
          <a:xfrm>
            <a:off x="502920" y="1299172"/>
            <a:ext cx="11689080" cy="415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chemeClr val="dk1"/>
              </a:buClr>
              <a:buSzPts val="2400"/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Inconsistency: "1.2 Lacs" vs "45,000" → Regex solution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Missing Data: Area not mentioned → Imputation used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Dynamic Content: Variable HTML structure → Exception handling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Outliers: Extreme values → Flagged, not removed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Classification: 17 missing types → Rule-based approach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endParaRPr lang="en-US"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2400"/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Learnings: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quality &gt; quantity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knowledge essential</a:t>
            </a:r>
          </a:p>
          <a:p>
            <a:pPr marL="342900" indent="-342900">
              <a:buClr>
                <a:schemeClr val="dk1"/>
              </a:buClr>
              <a:buSzPts val="2400"/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Outliers = valuable information</a:t>
            </a:r>
          </a:p>
        </p:txBody>
      </p:sp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90D4CD57-10A7-BEBC-21A8-9C3C2293E398}"/>
              </a:ext>
            </a:extLst>
          </p:cNvPr>
          <p:cNvSpPr txBox="1"/>
          <p:nvPr/>
        </p:nvSpPr>
        <p:spPr>
          <a:xfrm>
            <a:off x="427656" y="416554"/>
            <a:ext cx="10513060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80000"/>
              </a:lnSpc>
              <a:buClr>
                <a:srgbClr val="FF0000"/>
              </a:buClr>
              <a:buSzPts val="3200"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Challenges &amp; Learning Experiences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F011DB-1858-DD85-DCBC-6EDF556D47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9684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643B9A4-7F45-E916-A4DE-93B50E327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66186EC4-1222-9EC4-D4E4-7CC2AFABDBC4}"/>
              </a:ext>
            </a:extLst>
          </p:cNvPr>
          <p:cNvSpPr txBox="1"/>
          <p:nvPr/>
        </p:nvSpPr>
        <p:spPr>
          <a:xfrm>
            <a:off x="427656" y="416554"/>
            <a:ext cx="10513060" cy="63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80000"/>
              </a:lnSpc>
              <a:buClr>
                <a:srgbClr val="FF0000"/>
              </a:buClr>
              <a:buSzPts val="3200"/>
            </a:pPr>
            <a:r>
              <a:rPr lang="en-US" sz="44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Conclusion – Key Findings</a:t>
            </a:r>
            <a:endParaRPr sz="4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596B10-E8D2-E013-F98F-65741B3FF2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22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EC9D6-BD74-5674-4D11-5DB944210FAD}"/>
              </a:ext>
            </a:extLst>
          </p:cNvPr>
          <p:cNvSpPr txBox="1"/>
          <p:nvPr/>
        </p:nvSpPr>
        <p:spPr>
          <a:xfrm>
            <a:off x="0" y="1363579"/>
            <a:ext cx="121920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Drivers: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 = Primary rent driver (35% impact)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Property Type = Clear hierarchy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= Moderate impact (65% explains rent)</a:t>
            </a:r>
          </a:p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Segments: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Budget (35%): &lt;₹20K | </a:t>
            </a:r>
            <a:r>
              <a:rPr lang="en-IN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Wagholi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Ravet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Mid-Range (50%): ₹20K-75K | Baner, </a:t>
            </a:r>
            <a:r>
              <a:rPr lang="en-IN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Wakad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Premium (15%): &gt;₹75K | Koregaon Park, IT hubs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Deposit Trends: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Significant entry barrier (6-10 months)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by type &amp; location</a:t>
            </a:r>
          </a:p>
        </p:txBody>
      </p:sp>
    </p:spTree>
    <p:extLst>
      <p:ext uri="{BB962C8B-B14F-4D97-AF65-F5344CB8AC3E}">
        <p14:creationId xmlns:p14="http://schemas.microsoft.com/office/powerpoint/2010/main" val="3628776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6516" y="1850749"/>
            <a:ext cx="4465643" cy="283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/>
          <p:nvPr/>
        </p:nvSpPr>
        <p:spPr>
          <a:xfrm>
            <a:off x="1244600" y="2997200"/>
            <a:ext cx="366183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Libre Baskerville"/>
              <a:buNone/>
            </a:pPr>
            <a:r>
              <a:rPr lang="en-IN" sz="4400" b="0" i="0" u="none" strike="noStrike" cap="none" dirty="0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THANK YOU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B81468-ED31-5291-4258-53AF01CA66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23</a:t>
            </a:fld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2444</TotalTime>
  <Words>1590</Words>
  <Application>Microsoft Office PowerPoint</Application>
  <PresentationFormat>Widescreen</PresentationFormat>
  <Paragraphs>202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Calibri</vt:lpstr>
      <vt:lpstr>Wingdings</vt:lpstr>
      <vt:lpstr>Arial</vt:lpstr>
      <vt:lpstr>Lato Black</vt:lpstr>
      <vt:lpstr>Courier New</vt:lpstr>
      <vt:lpstr>Libre Baskerville</vt:lpstr>
      <vt:lpstr>Office Theme</vt:lpstr>
      <vt:lpstr>PowerPoint Presentation</vt:lpstr>
      <vt:lpstr>PowerPoint Presentation</vt:lpstr>
      <vt:lpstr>Agenda</vt:lpstr>
      <vt:lpstr>Business Problem</vt:lpstr>
      <vt:lpstr>Market Opportunity Sizing </vt:lpstr>
      <vt:lpstr>PowerPoint Presentation</vt:lpstr>
      <vt:lpstr>Web Scraping – Details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Raghu Ram Aduri</dc:creator>
  <cp:lastModifiedBy>Rohit Girhe</cp:lastModifiedBy>
  <cp:revision>81</cp:revision>
  <dcterms:created xsi:type="dcterms:W3CDTF">2021-02-16T05:19:01Z</dcterms:created>
  <dcterms:modified xsi:type="dcterms:W3CDTF">2025-11-22T20:00:27Z</dcterms:modified>
</cp:coreProperties>
</file>