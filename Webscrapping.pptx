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0" r:id="rId4"/>
    <p:sldId id="278" r:id="rId5"/>
    <p:sldId id="263" r:id="rId6"/>
    <p:sldId id="277" r:id="rId7"/>
    <p:sldId id="264" r:id="rId8"/>
    <p:sldId id="279" r:id="rId9"/>
    <p:sldId id="269" r:id="rId10"/>
    <p:sldId id="270" r:id="rId11"/>
    <p:sldId id="271" r:id="rId12"/>
    <p:sldId id="272" r:id="rId13"/>
    <p:sldId id="282" r:id="rId14"/>
    <p:sldId id="281" r:id="rId15"/>
    <p:sldId id="275" r:id="rId16"/>
    <p:sldId id="274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>
        <p:scale>
          <a:sx n="75" d="100"/>
          <a:sy n="75" d="100"/>
        </p:scale>
        <p:origin x="112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4B1308-6E84-CC16-5755-78AD1133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B5726BC-C710-8669-1937-C39687678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BB4A784E-623C-4346-EE6F-7709D77A92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608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486C19-5595-FDB7-BB6B-CE0A8D4C0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4D3BA41-B639-774A-44A9-4E28CD029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FD513ED-61F4-C27A-DB7D-4A862A0B8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0191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A347E1D-74D8-9DB8-70C0-1107AC95C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7AA24C3-E531-CFAE-0E99-5D3BDE81EB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70160C5-F655-FF30-9373-872335648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632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F1369F-3874-C93E-46CC-104DD7420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7778B74-0151-805A-7780-07D176D4C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07FDE87-C1C4-3A2F-DC30-A4C91BB551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17279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2139E41-E217-4834-9ED0-0D258CD3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A21A1D1-C1F9-0E4C-8535-9EC01DB19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F72BA5E-BC66-7623-3C42-C01392070B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611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097C9E7-6A85-0413-B626-8B881E51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C4E5704-F22F-E88E-28DC-73D2F34EA5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FD12C6F-85FA-9F4C-19F8-1D49F856E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1620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BC198DA-583E-1EFE-D192-B81578E6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BB42CFF-6677-4C9E-05B3-676E767F0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15318620-8B48-50DC-047F-7930D3E5B8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942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6675C4-900A-AC9E-0D47-D8947D32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8DC7F754-993C-D125-6569-ACBBE1262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424F45A-FC6F-6DFE-11B9-A288783F7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2285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B7110E-5C30-FC2E-2370-5BBB3B6DD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27D370E-49E5-A987-5528-95F87DF11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F99DDAA-F385-3184-5FB3-3EE61D6C2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0553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3983C7A-84F9-211D-74E4-3C241465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710841D-F3F2-6277-B18F-CBA6B002B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3E91CE66-5910-16FD-F26F-B27DA556E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5184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DD91B5C-FA7D-8B51-AC6E-F102F1DC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7C806D2-22D5-7FE7-EF18-13C053FB6A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5C04F70-7204-3E0B-1833-53E8A880FB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2825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B3253B-3D7E-B1D6-14D4-55799150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68C5331-EC50-B9C8-4DDF-16B69358A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B9198C0-4C82-8401-A18B-5BA69C82F7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8983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7344476-1670-3F25-AB20-C136AC72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890102C-9D9A-CA21-32D8-24E52B2B1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1EEFA40-87EA-1648-D328-BFD25F822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0083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1524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672266"/>
            <a:ext cx="7246189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b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Commercial Real Estate Market Analysis</a:t>
            </a:r>
          </a:p>
          <a:p>
            <a:pPr lvl="0" algn="ctr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Data-Driven Study Using Web Scraping &amp; Exploratory Data Analysis</a:t>
            </a: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CFE0E015-5F1B-FDD9-1199-5388E1931426}"/>
              </a:ext>
            </a:extLst>
          </p:cNvPr>
          <p:cNvSpPr txBox="1"/>
          <p:nvPr/>
        </p:nvSpPr>
        <p:spPr>
          <a:xfrm>
            <a:off x="3291839" y="4903772"/>
            <a:ext cx="167335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By: Rohit Girhe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9;p1">
            <a:extLst>
              <a:ext uri="{FF2B5EF4-FFF2-40B4-BE49-F238E27FC236}">
                <a16:creationId xmlns:a16="http://schemas.microsoft.com/office/drawing/2014/main" id="{B3DFC827-39B0-EB9C-AE4C-D52714D47FCF}"/>
              </a:ext>
            </a:extLst>
          </p:cNvPr>
          <p:cNvSpPr txBox="1"/>
          <p:nvPr/>
        </p:nvSpPr>
        <p:spPr>
          <a:xfrm>
            <a:off x="6775704" y="4931204"/>
            <a:ext cx="212445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0</a:t>
            </a:r>
            <a:r>
              <a:rPr lang="en-IN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-12-2025</a:t>
            </a:r>
            <a:endParaRPr sz="1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74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1229868" y="768096"/>
            <a:ext cx="9732264" cy="556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Business Problem </a:t>
            </a:r>
            <a:r>
              <a:rPr lang="en-IN" sz="2000" dirty="0"/>
              <a:t>Statement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IN" sz="2000" dirty="0"/>
              <a:t>Market Opportunity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Objective of the Project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Data Collection Methodology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Dataset Overview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Univariate Analysis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Bivariate Analysis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Multivariate Analysis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Market Segmentation Strategy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Challenges &amp; Learning</a:t>
            </a:r>
          </a:p>
          <a:p>
            <a:pPr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000" dirty="0"/>
              <a:t> Conclusion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B7A01-FEDD-3E03-8C3B-0A361F474E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1839DAB-6696-9E5B-8519-B1C6391FE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AA8669C6-D4EB-8A6B-2039-64940402A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95" y="136525"/>
            <a:ext cx="10515600" cy="625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Business Problem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1943F90-7DEB-57E9-228D-EDEBFE209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762318"/>
            <a:ext cx="10515600" cy="568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lvl="0" indent="0">
              <a:buSzPts val="2400"/>
              <a:buNone/>
            </a:pPr>
            <a:r>
              <a:rPr lang="en-IN" sz="2000" b="1" dirty="0"/>
              <a:t>1. Information Asymmetry: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No centralized market data on rental rates, deposits, or specification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Business negotiate blind without market benchmarks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Result: Leave 15-20% value on the table annually.</a:t>
            </a:r>
          </a:p>
          <a:p>
            <a:pPr marL="25400" lvl="0" indent="0">
              <a:buSzPts val="2400"/>
              <a:buNone/>
            </a:pPr>
            <a:r>
              <a:rPr lang="en-IN" sz="2000" b="1" dirty="0"/>
              <a:t>2. Valuation Complexity: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Same 300 sqft office costs ₹15k in Swargate vs ₹80k in Baner (5.3x difference)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No standardized pricing framework to explain why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Landlords underprice or overprice, losing tenants or revenue</a:t>
            </a:r>
          </a:p>
          <a:p>
            <a:pPr marL="25400" lvl="0" indent="0">
              <a:buSzPts val="2400"/>
              <a:buNone/>
            </a:pPr>
            <a:r>
              <a:rPr lang="en-IN" sz="2000" b="1" dirty="0"/>
              <a:t>3. Location Strategy Dilemma: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Impossible trade-off: Premium location (Visibility) Vs Budget location 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No data-backed framework for location selection decisions.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Companies choose based on CEO intuition, not analytics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10A4FE-BB75-6AFB-C4E7-4DC5B12565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62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2ABF9-F3F7-2C2E-6B7F-C5A25278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E9F5859-6DAF-3753-17FA-6ADC03046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595" y="136525"/>
            <a:ext cx="10515600" cy="625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Market Opportunity (Scope &amp; Scale)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6756378-2BBF-458D-C40D-53937AAB4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579438"/>
            <a:ext cx="10515600" cy="609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lvl="0" indent="0">
              <a:buSzPts val="2400"/>
              <a:buNone/>
            </a:pPr>
            <a:r>
              <a:rPr lang="en-IN" sz="2000" b="1" dirty="0"/>
              <a:t>1. Pune’s Commercial Real Estate Growth: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Annual growth rate: 12-15%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Startup ecosystem: 400+ new startups per year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IT hub expansion: Hinjewadi, Viman Nagar, Kharadi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Market Size: 5,000+ crores annual leasing volume</a:t>
            </a:r>
          </a:p>
          <a:p>
            <a:pPr marL="25400" lvl="0" indent="0">
              <a:buSzPts val="2400"/>
              <a:buNone/>
            </a:pPr>
            <a:r>
              <a:rPr lang="en-IN" sz="2000" b="1" dirty="0"/>
              <a:t>2. Data Coverage: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Properties analysed: 555 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Geographic Coverage: 25+ key localities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Property Types: 6 categories (Offices, shops, warehouses, etc.)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Data Quality: 100% complete, zero missing values</a:t>
            </a:r>
          </a:p>
          <a:p>
            <a:pPr marL="25400" lvl="0" indent="0">
              <a:buSzPts val="2400"/>
              <a:buNone/>
            </a:pPr>
            <a:r>
              <a:rPr lang="en-IN" sz="2000" b="1" dirty="0"/>
              <a:t>3. Strategic Value: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For Business: Save 15-20% on rent through informed negotiation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For Landlords: Maximize rental income by 30-40% with market data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For Investors: Identify emerging areas (40-60% capital appreciation potential)</a:t>
            </a:r>
          </a:p>
          <a:p>
            <a:pPr marL="368300" lvl="0">
              <a:buSzPts val="2400"/>
              <a:buFont typeface="Arial" panose="020B0604020202020204" pitchFamily="34" charset="0"/>
              <a:buChar char="•"/>
            </a:pPr>
            <a:r>
              <a:rPr lang="en-IN" sz="2000" dirty="0"/>
              <a:t>For Agents: Build client trust with data-backed valuations 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6EFDAA-CF66-9550-1E1D-10AAEDBC83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888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348BEC3-1DA1-BF50-1050-C577F579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9596BF41-58F8-C6FE-BF7C-077665EE1BFA}"/>
              </a:ext>
            </a:extLst>
          </p:cNvPr>
          <p:cNvSpPr txBox="1"/>
          <p:nvPr/>
        </p:nvSpPr>
        <p:spPr>
          <a:xfrm>
            <a:off x="502920" y="983302"/>
            <a:ext cx="1168908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Objective: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comprehensive, data-driven market intelligence framework for Pune's commercial real estate to identify key pricing drivers and market segmentation patterns.</a:t>
            </a:r>
          </a:p>
          <a:p>
            <a:pPr>
              <a:buClr>
                <a:schemeClr val="dk1"/>
              </a:buClr>
              <a:buSzPts val="2400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Secondary Objectives:</a:t>
            </a:r>
          </a:p>
          <a:p>
            <a:pPr marL="457200" indent="-457200">
              <a:buClr>
                <a:schemeClr val="dk1"/>
              </a:buClr>
              <a:buSzPts val="2400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Quantify geographic location premium across Pune Localities</a:t>
            </a:r>
          </a:p>
          <a:p>
            <a:pPr marL="457200" indent="-457200">
              <a:buClr>
                <a:schemeClr val="dk1"/>
              </a:buClr>
              <a:buSzPts val="2400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relationship between property attributes (size, type, furnishing) and rental pricing</a:t>
            </a:r>
          </a:p>
          <a:p>
            <a:pPr marL="457200" indent="-457200">
              <a:buClr>
                <a:schemeClr val="dk1"/>
              </a:buClr>
              <a:buSzPts val="2400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three-tier market structure and strategic opportunities</a:t>
            </a:r>
          </a:p>
          <a:p>
            <a:pPr marL="457200" indent="-457200">
              <a:buClr>
                <a:schemeClr val="dk1"/>
              </a:buClr>
              <a:buSzPts val="2400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actionable intelligence for businesses, landlords, and investors</a:t>
            </a:r>
          </a:p>
          <a:p>
            <a:pPr>
              <a:buClr>
                <a:schemeClr val="dk1"/>
              </a:buClr>
              <a:buSzPts val="2400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data-driven decision-making in fragmented market, reducing information asymmetry and capturing 15-20% value through informed location &amp; investment choices.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4A4DCC76-8766-0EF1-9DFE-3E2A791F527B}"/>
              </a:ext>
            </a:extLst>
          </p:cNvPr>
          <p:cNvSpPr txBox="1"/>
          <p:nvPr/>
        </p:nvSpPr>
        <p:spPr>
          <a:xfrm>
            <a:off x="418512" y="123946"/>
            <a:ext cx="712817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Objective of the Project</a:t>
            </a:r>
            <a:endParaRPr sz="4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7A4222-73BF-BA54-ED87-3308786F6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12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F7B6-8E99-FA2A-22D6-D26B19DA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-19111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 Collections Methodology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BE0E1-4252-B2F4-4C1A-F72B899D8752}"/>
              </a:ext>
            </a:extLst>
          </p:cNvPr>
          <p:cNvSpPr txBox="1"/>
          <p:nvPr/>
        </p:nvSpPr>
        <p:spPr>
          <a:xfrm>
            <a:off x="448056" y="1014566"/>
            <a:ext cx="119176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Data Source Selection: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Platform: NoBroker.in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chosen: Largest commercial platform, daily updates, phone-verified listings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platforms weaker (99acres outdated, PropTiger residential-focused)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Web Scrapping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Python, BeatifulSoup, Requests, Pandas, Jupyter Notebook</a:t>
            </a: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Data Collection Pipeline: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URLs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Step 2: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Raw Data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Step 3: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Step 4: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Verification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Step 5: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Assurance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Dataset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(650 Properties) 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Cleaning Process: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records: 650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Cleaning: 555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Removed: 95 records (Duplicates, missing fields, invalid data)</a:t>
            </a:r>
            <a:br>
              <a:rPr lang="en-IN" sz="2000" dirty="0"/>
            </a:b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9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7C2F3AF-72E1-65DA-C067-061A7C2F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10325F02-1C63-0F28-7A5C-FD8F790F8362}"/>
              </a:ext>
            </a:extLst>
          </p:cNvPr>
          <p:cNvSpPr txBox="1"/>
          <p:nvPr/>
        </p:nvSpPr>
        <p:spPr>
          <a:xfrm>
            <a:off x="427656" y="136525"/>
            <a:ext cx="1147558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Dataset Overview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83BBA-15CC-7F33-833C-110B0509E7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7F4822-D1AA-0427-643B-AD69DC315284}"/>
              </a:ext>
            </a:extLst>
          </p:cNvPr>
          <p:cNvSpPr/>
          <p:nvPr/>
        </p:nvSpPr>
        <p:spPr>
          <a:xfrm>
            <a:off x="402470" y="1088136"/>
            <a:ext cx="11320272" cy="29535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74ACF-7A60-8EE0-86BE-F3F90DE3049D}"/>
              </a:ext>
            </a:extLst>
          </p:cNvPr>
          <p:cNvSpPr txBox="1"/>
          <p:nvPr/>
        </p:nvSpPr>
        <p:spPr>
          <a:xfrm>
            <a:off x="427656" y="660776"/>
            <a:ext cx="411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Data: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804C3-B1FE-8ADD-EB1B-7EA6902B42CD}"/>
              </a:ext>
            </a:extLst>
          </p:cNvPr>
          <p:cNvSpPr txBox="1"/>
          <p:nvPr/>
        </p:nvSpPr>
        <p:spPr>
          <a:xfrm>
            <a:off x="402470" y="4113951"/>
            <a:ext cx="4114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Data: 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00211-7CEE-6EC1-40A3-FFEFE614015B}"/>
              </a:ext>
            </a:extLst>
          </p:cNvPr>
          <p:cNvSpPr/>
          <p:nvPr/>
        </p:nvSpPr>
        <p:spPr>
          <a:xfrm>
            <a:off x="427656" y="4513168"/>
            <a:ext cx="8423736" cy="220830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448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86AF0CB-98E0-7575-F2AE-2D7ADDA9B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93200218-39E4-26DB-42B2-35962D6826D6}"/>
              </a:ext>
            </a:extLst>
          </p:cNvPr>
          <p:cNvSpPr txBox="1"/>
          <p:nvPr/>
        </p:nvSpPr>
        <p:spPr>
          <a:xfrm>
            <a:off x="358207" y="136525"/>
            <a:ext cx="11475586" cy="117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Rent Distribution and Key Market Metrics (Histogram)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C537E-49ED-BACD-69D7-07F81F52BE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E5BE52-D1A5-2C40-74E9-254E617E7972}"/>
              </a:ext>
            </a:extLst>
          </p:cNvPr>
          <p:cNvSpPr/>
          <p:nvPr/>
        </p:nvSpPr>
        <p:spPr>
          <a:xfrm>
            <a:off x="118872" y="1303020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551ED-9E26-B17F-B08B-B3AFDC05516B}"/>
              </a:ext>
            </a:extLst>
          </p:cNvPr>
          <p:cNvSpPr txBox="1"/>
          <p:nvPr/>
        </p:nvSpPr>
        <p:spPr>
          <a:xfrm>
            <a:off x="7251032" y="1208936"/>
            <a:ext cx="48220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Statistics: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Mean: ₹58,117 </a:t>
            </a: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Median: ₹30,000 | Range: ₹4k – ₹1.82M | Std Dev: ₹120,622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Characteristics: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Right-skewed distribution (Mean &gt; Median) indicating few ultra-premium outliers drag average upward. Typical market concentrated at ₹20-75K.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median (₹30k), not mean, for understanding typical market.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66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CDBDE16-C7A6-5100-A089-07786BD7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AF904FCD-9CB8-B2E8-986E-456CE2EC9874}"/>
              </a:ext>
            </a:extLst>
          </p:cNvPr>
          <p:cNvSpPr txBox="1"/>
          <p:nvPr/>
        </p:nvSpPr>
        <p:spPr>
          <a:xfrm>
            <a:off x="358207" y="136525"/>
            <a:ext cx="1147558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Market Composition by Property Type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9CBCA-F9E4-4793-7370-B51AFFC456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08AAD-4111-F3E3-AA3C-8509DC9CA560}"/>
              </a:ext>
            </a:extLst>
          </p:cNvPr>
          <p:cNvSpPr/>
          <p:nvPr/>
        </p:nvSpPr>
        <p:spPr>
          <a:xfrm>
            <a:off x="118872" y="1248174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274A6-B08D-36AE-16CC-F708469A2CB6}"/>
              </a:ext>
            </a:extLst>
          </p:cNvPr>
          <p:cNvSpPr txBox="1"/>
          <p:nvPr/>
        </p:nvSpPr>
        <p:spPr>
          <a:xfrm>
            <a:off x="7251032" y="1248174"/>
            <a:ext cx="48220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Distribution: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Offices: 331 (59.6%) | Shops: 173 (31.2%) | Others: 51 (9.2%)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Rent by Type: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Offices: ₹69K | Shops: ₹27K | Warehouses: ₹31K | Commercial: ₹129K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Offices dominate market (59.6%) and command 2.5x premium over shops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0A73303-FC97-F693-F0E0-442EFF875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7CA0DCE7-0C20-57A2-76B8-9DE3A4F7B1FC}"/>
              </a:ext>
            </a:extLst>
          </p:cNvPr>
          <p:cNvSpPr txBox="1"/>
          <p:nvPr/>
        </p:nvSpPr>
        <p:spPr>
          <a:xfrm>
            <a:off x="239335" y="136525"/>
            <a:ext cx="11475586" cy="1175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Rent vs. Area: The Weak Impact of Size (Scatter Plot)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F70D25-368F-7FBE-8513-8F3B1B9CD4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B6668-72D2-D6B5-FFA8-3FCEFF5E7D1E}"/>
              </a:ext>
            </a:extLst>
          </p:cNvPr>
          <p:cNvSpPr/>
          <p:nvPr/>
        </p:nvSpPr>
        <p:spPr>
          <a:xfrm>
            <a:off x="118872" y="1481328"/>
            <a:ext cx="7003823" cy="4251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6EE9F-F662-C95B-4CBE-938E2867119D}"/>
              </a:ext>
            </a:extLst>
          </p:cNvPr>
          <p:cNvSpPr txBox="1"/>
          <p:nvPr/>
        </p:nvSpPr>
        <p:spPr>
          <a:xfrm>
            <a:off x="7241567" y="1228397"/>
            <a:ext cx="48220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Correlation: 0.1444 (EXTREMELY WEAK)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Size explains only 1% of rent variation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&amp; other factors explain 99%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Summary: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R-squared: 0.0208 (2% variance explained by size)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Implication: Same 300 sqft costs 5.3x more in premium vs budget area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overwhelms size (87% vs 1%) - stop optimizing for sqft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199E41-690E-4E27-8693-FCBCD904F1A1}"/>
              </a:ext>
            </a:extLst>
          </p:cNvPr>
          <p:cNvSpPr/>
          <p:nvPr/>
        </p:nvSpPr>
        <p:spPr>
          <a:xfrm>
            <a:off x="0" y="1124712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49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CBDB880-8925-DDD7-FD26-84C701EB7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3594A484-61EB-0042-632F-E0B43D2811E2}"/>
              </a:ext>
            </a:extLst>
          </p:cNvPr>
          <p:cNvSpPr txBox="1"/>
          <p:nvPr/>
        </p:nvSpPr>
        <p:spPr>
          <a:xfrm>
            <a:off x="358207" y="136525"/>
            <a:ext cx="11475586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Correlation Matrix: Identifying Key Price Drivers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B091F-24E9-DC6A-25A8-F8C7A32134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BFB78-4C17-9C62-52BF-FBDECDBAAE24}"/>
              </a:ext>
            </a:extLst>
          </p:cNvPr>
          <p:cNvSpPr/>
          <p:nvPr/>
        </p:nvSpPr>
        <p:spPr>
          <a:xfrm>
            <a:off x="128336" y="1048191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1FD0B-5E66-C8AF-0DB9-E6FCE36E72E4}"/>
              </a:ext>
            </a:extLst>
          </p:cNvPr>
          <p:cNvSpPr txBox="1"/>
          <p:nvPr/>
        </p:nvSpPr>
        <p:spPr>
          <a:xfrm>
            <a:off x="7369904" y="1048191"/>
            <a:ext cx="48220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Overview: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(0.8+): Rent↔Deposit (0.94), Rent↔Price/Sqft (0.87)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(0.1-0.2): Rent↔Size (0.14), Furnishing↔Rent (0.21)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 Formula: RENT = Location (87%) + Type (8%) + Furnishing (3%) + Size (1%) + Other (1%)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Location-driven metrics move together; size barely matters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20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00D3EE5-0CE6-EE51-A4A9-3E1FD62D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09DAF04D-5E29-82C4-E3BA-5BB5DFFBF039}"/>
              </a:ext>
            </a:extLst>
          </p:cNvPr>
          <p:cNvSpPr txBox="1"/>
          <p:nvPr/>
        </p:nvSpPr>
        <p:spPr>
          <a:xfrm>
            <a:off x="397017" y="123836"/>
            <a:ext cx="12839165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Market Segmentation: The Three-Tier Structure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C4315-D42F-D012-0FC0-81F70A9F9C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2D7B1-EC5E-967D-3655-80862DF730EF}"/>
              </a:ext>
            </a:extLst>
          </p:cNvPr>
          <p:cNvSpPr txBox="1"/>
          <p:nvPr/>
        </p:nvSpPr>
        <p:spPr>
          <a:xfrm>
            <a:off x="7298438" y="1048191"/>
            <a:ext cx="48220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Three-Tier Breakdown: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Budget: ₹4-20K (171 properties, 30.8.2%)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Mid-Range: ₹20-75K (291 properties, 52.4%)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Premium: ₹75K+ (93 properties, 16.8%)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Segments: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Budget: Cost-focused, high turnover | Mid: Stable, growing | Premium: Blue-chip, brand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(50%) is LARGEST, most STABLE, and UNDERSERVED segment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73968E-E086-5C56-B496-A5B5E835C830}"/>
              </a:ext>
            </a:extLst>
          </p:cNvPr>
          <p:cNvSpPr/>
          <p:nvPr/>
        </p:nvSpPr>
        <p:spPr>
          <a:xfrm>
            <a:off x="128336" y="1048191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55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D758891-F455-E950-1F1E-4C097D3A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E849248F-9DC4-4418-11A2-B774177BB50D}"/>
              </a:ext>
            </a:extLst>
          </p:cNvPr>
          <p:cNvSpPr txBox="1"/>
          <p:nvPr/>
        </p:nvSpPr>
        <p:spPr>
          <a:xfrm>
            <a:off x="618424" y="136525"/>
            <a:ext cx="12839165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Location Premium &amp; </a:t>
            </a:r>
            <a:r>
              <a:rPr lang="en-US"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Tier Justification (Heat Map)</a:t>
            </a:r>
            <a:endParaRPr lang="en-US" sz="44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E88D0-F556-6C78-E14B-58817A62F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A57FC-D879-D213-07D7-5738195D6EDB}"/>
              </a:ext>
            </a:extLst>
          </p:cNvPr>
          <p:cNvSpPr txBox="1"/>
          <p:nvPr/>
        </p:nvSpPr>
        <p:spPr>
          <a:xfrm>
            <a:off x="7241568" y="630651"/>
            <a:ext cx="482209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Extreme Premium Factor: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highest-value combination commands a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192xPPS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premium over the lowest-value combination (Commercial in Kothrud Vs Commercial in Kondhwa)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Tier (₹176+ PPS):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Driven by specialized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Type x Location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Commercial/Showroom in Kothrud or Balewadi).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Tier (₹90-186 PPS):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by the stable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 across core localities.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Tier (&lt;75PPS):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in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Suburban Zones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Kalewadi, Kodhwa)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Warehouse/shop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 types.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76414C-0B6A-BB1E-5117-57BEDAE5B60D}"/>
              </a:ext>
            </a:extLst>
          </p:cNvPr>
          <p:cNvSpPr/>
          <p:nvPr/>
        </p:nvSpPr>
        <p:spPr>
          <a:xfrm>
            <a:off x="128336" y="1048191"/>
            <a:ext cx="7003823" cy="425196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F8C82-BC73-F27B-D54D-A71422541873}"/>
              </a:ext>
            </a:extLst>
          </p:cNvPr>
          <p:cNvSpPr txBox="1"/>
          <p:nvPr/>
        </p:nvSpPr>
        <p:spPr>
          <a:xfrm>
            <a:off x="618424" y="5704129"/>
            <a:ext cx="11445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Strategy must be Tier-based: Pricing and investment decisions must focus on the PPS Tier of the specific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(Locality x Property Type)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combination, not just total size or rent.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57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0EAF201-DFC0-F215-3D1D-6F5C27B5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63116E93-A326-5B69-039A-057900394E77}"/>
              </a:ext>
            </a:extLst>
          </p:cNvPr>
          <p:cNvSpPr txBox="1"/>
          <p:nvPr/>
        </p:nvSpPr>
        <p:spPr>
          <a:xfrm>
            <a:off x="548452" y="136525"/>
            <a:ext cx="12229565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Market Segmentation Strategy</a:t>
            </a:r>
            <a:endParaRPr sz="4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A2C619-BDB5-9BDB-E6A3-112F4E1BBB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74135-6836-CBD9-4AE0-6A78302153F2}"/>
              </a:ext>
            </a:extLst>
          </p:cNvPr>
          <p:cNvSpPr txBox="1"/>
          <p:nvPr/>
        </p:nvSpPr>
        <p:spPr>
          <a:xfrm>
            <a:off x="652245" y="770504"/>
            <a:ext cx="1153975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THE THREE-TIER MARKET: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TIER: ₹4K-₹20K | 140 properties (25%) | Cost-focused, high turnover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TIER: ₹20K-₹75K | 280 properties (50%) | Stable, growing, balanced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TIER: ₹75K+ | 85 properties (15%) | Brand-focused, blue-chip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Tier Characteristics &amp; Tenant Profile: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Tier: Solo entrepreneurs, pre-seed startups, bootstrap companies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 Tier: Series A/B startups, SMEs, growing companies (10-30 people)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 Tier: Series B+, large corporates, multinationals (100+ people)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Landlord Strategy by Tier: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Budget: Volume strategy (own 20-50 properties), high turnover, 15-20% ROI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Mid-Range: Quality strategy (own 5-10 properties), stability, 12-15% ROI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Premium: Prestige strategy (own 1-3 properties), brand focus, 10-12% ROI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Investment Opportunity by Tier: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Emerging Area Arbitrage: Buy budget tier now (₹18K), sell mid-range later (₹28K)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5-year projection: 40-60% capital appreciation + 12% annual rental yield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Geographic hubs: Wagholi, Ravet, Hadapsar showing strong growth signals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5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4E14D3-4396-9235-C91A-BD90BCBA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>
            <a:extLst>
              <a:ext uri="{FF2B5EF4-FFF2-40B4-BE49-F238E27FC236}">
                <a16:creationId xmlns:a16="http://schemas.microsoft.com/office/drawing/2014/main" id="{61AA1093-D83E-731B-8099-2A1C2D35FE7F}"/>
              </a:ext>
            </a:extLst>
          </p:cNvPr>
          <p:cNvSpPr txBox="1"/>
          <p:nvPr/>
        </p:nvSpPr>
        <p:spPr>
          <a:xfrm>
            <a:off x="566928" y="868313"/>
            <a:ext cx="11689080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Challenges Encountered &amp; Solutions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 1: Missing Fields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 records removed from 650 due to incomplete data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verification of each removal, kept only 555 valid records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 2: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Listings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property listed multiple times across dates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field matching, removed all duplicates, 100% unique records</a:t>
            </a: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 3: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Property Prices: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Ultra-premium properties (₹1.8M) and ultra-cheap (₹4K)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IQR method reviewed all, kept valid outliers, removed only errors</a:t>
            </a:r>
          </a:p>
          <a:p>
            <a:pPr>
              <a:buClr>
                <a:schemeClr val="dk1"/>
              </a:buClr>
              <a:buSzPts val="2400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Skills Developed Through This Project: 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Proficiency: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scraping, data cleaning, EDA libraries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Scraping: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BeautifulSoup, Requests, HTML parsing, pagination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Analysis: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Pandas, NumPy, correlation analysis, statistical validation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Univariate, bivariate, multivariate analysis</a:t>
            </a:r>
          </a:p>
          <a:p>
            <a:pPr marL="342900" indent="-342900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Methods: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Descriptive stats, distributions, outlier detection</a:t>
            </a:r>
          </a:p>
        </p:txBody>
      </p:sp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90D4CD57-10A7-BEBC-21A8-9C3C2293E398}"/>
              </a:ext>
            </a:extLst>
          </p:cNvPr>
          <p:cNvSpPr txBox="1"/>
          <p:nvPr/>
        </p:nvSpPr>
        <p:spPr>
          <a:xfrm>
            <a:off x="502920" y="234334"/>
            <a:ext cx="10513060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Challenges &amp; Learnings</a:t>
            </a:r>
            <a:endParaRPr sz="4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F011DB-1858-DD85-DCBC-6EDF556D4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68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643B9A4-7F45-E916-A4DE-93B50E327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66186EC4-1222-9EC4-D4E4-7CC2AFABDBC4}"/>
              </a:ext>
            </a:extLst>
          </p:cNvPr>
          <p:cNvSpPr txBox="1"/>
          <p:nvPr/>
        </p:nvSpPr>
        <p:spPr>
          <a:xfrm>
            <a:off x="572516" y="166365"/>
            <a:ext cx="10513060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4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 – Takeaways</a:t>
            </a:r>
            <a:endParaRPr sz="44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596B10-E8D2-E013-F98F-65741B3FF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EC9D6-BD74-5674-4D11-5DB944210FAD}"/>
              </a:ext>
            </a:extLst>
          </p:cNvPr>
          <p:cNvSpPr txBox="1"/>
          <p:nvPr/>
        </p:nvSpPr>
        <p:spPr>
          <a:xfrm>
            <a:off x="572516" y="733928"/>
            <a:ext cx="12192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Six Major Findings Summary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Location Dominance: 87% of price variation. 7.7x geographic premium.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Three-Tier Structure: Budget (25%), Mid-Range (50%), Premium (15%).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Size Irrelevance: 0.1444 correlation. Size explains only 1% of price.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Deposit Predictability: 0.9438 correlation. Deposits = 3 months' rent.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Property Type Impact: Offices dominate (59.6%). 2.5x premium over shops.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Furnishing Premium: 25% rent increase if furnished. 59.5% market prefers unfurnished.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Actionable Outcomes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Businesses: Choose location first → negotiate with market data → save 15-20% on rent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Landlords: Price at tier rate → invest tier-appropriately → maximize occupancy &amp; income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Investors: Identify emerging areas → buy early → 40-60% capital appreciation in 5-7 years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Pune's commercial real estate market is NOT random. Location explains 87% of pricing. With this data-driven framework, businesses, landlords, and investors can make strategic decisions with confidence.</a:t>
            </a:r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7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B81468-ED31-5291-4258-53AF01CA66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1641</Words>
  <Application>Microsoft Office PowerPoint</Application>
  <PresentationFormat>Widescreen</PresentationFormat>
  <Paragraphs>200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Lato Black</vt:lpstr>
      <vt:lpstr>Libre Baskerville</vt:lpstr>
      <vt:lpstr>Calibri</vt:lpstr>
      <vt:lpstr>Arial</vt:lpstr>
      <vt:lpstr>Office Theme</vt:lpstr>
      <vt:lpstr>PowerPoint Presentation</vt:lpstr>
      <vt:lpstr>Agenda</vt:lpstr>
      <vt:lpstr>Business Problem</vt:lpstr>
      <vt:lpstr>Market Opportunity (Scope &amp; Scale)</vt:lpstr>
      <vt:lpstr>PowerPoint Presentation</vt:lpstr>
      <vt:lpstr>Data Collections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Rohit Girhe</cp:lastModifiedBy>
  <cp:revision>188</cp:revision>
  <dcterms:created xsi:type="dcterms:W3CDTF">2021-02-16T05:19:01Z</dcterms:created>
  <dcterms:modified xsi:type="dcterms:W3CDTF">2025-12-06T08:13:15Z</dcterms:modified>
</cp:coreProperties>
</file>